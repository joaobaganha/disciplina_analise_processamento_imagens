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m75xrZmo07DvlmOecGRnAfHAR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4539671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fb4539671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b4539671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2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955280" y="1417320"/>
            <a:ext cx="4023360" cy="4023360"/>
          </a:xfrm>
          <a:prstGeom prst="ellipse">
            <a:avLst/>
          </a:prstGeom>
          <a:noFill/>
          <a:ln cap="flat" cmpd="sng" w="19050">
            <a:solidFill>
              <a:srgbClr val="3A3F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549640" y="2011680"/>
            <a:ext cx="2834640" cy="2834640"/>
          </a:xfrm>
          <a:prstGeom prst="ellipse">
            <a:avLst/>
          </a:prstGeom>
          <a:noFill/>
          <a:ln cap="flat" cmpd="sng" w="19050">
            <a:solidFill>
              <a:srgbClr val="3A3F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144000" y="2606040"/>
            <a:ext cx="1645920" cy="1645920"/>
          </a:xfrm>
          <a:prstGeom prst="ellipse">
            <a:avLst/>
          </a:prstGeom>
          <a:noFill/>
          <a:ln cap="flat" cmpd="sng" w="38100">
            <a:solidFill>
              <a:srgbClr val="E85D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829800" y="3291840"/>
            <a:ext cx="274320" cy="274320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D0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TEMA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594360" y="196596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Modelo Pinhole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640080" y="30632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D3D9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FD3D9"/>
                </a:solidFill>
                <a:latin typeface="Calibri"/>
                <a:ea typeface="Calibri"/>
                <a:cs typeface="Calibri"/>
                <a:sym typeface="Calibri"/>
              </a:rPr>
              <a:t>Como o mundo 3D vira uma imagem 2D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411480" y="6157645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6A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096A0"/>
                </a:solidFill>
                <a:latin typeface="Calibri"/>
                <a:ea typeface="Calibri"/>
                <a:cs typeface="Calibri"/>
                <a:sym typeface="Calibri"/>
              </a:rPr>
              <a:t>Processamento de Image</a:t>
            </a:r>
            <a:r>
              <a:rPr lang="en-US" sz="1200">
                <a:solidFill>
                  <a:srgbClr val="9096A0"/>
                </a:solidFill>
                <a:latin typeface="Calibri"/>
                <a:ea typeface="Calibri"/>
                <a:cs typeface="Calibri"/>
                <a:sym typeface="Calibri"/>
              </a:rPr>
              <a:t>ns</a:t>
            </a:r>
            <a:r>
              <a:rPr b="0" i="0" lang="en-US" sz="1200" u="none" cap="none" strike="noStrike">
                <a:solidFill>
                  <a:srgbClr val="9096A0"/>
                </a:solidFill>
                <a:latin typeface="Calibri"/>
                <a:ea typeface="Calibri"/>
                <a:cs typeface="Calibri"/>
                <a:sym typeface="Calibri"/>
              </a:rPr>
              <a:t> — CESUPA — CC8MA/CC8NA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411480" y="57919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João </a:t>
            </a: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Baganha e Pedro Carneiro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640080" y="502920"/>
            <a:ext cx="502800" cy="502800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640080" y="50292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1325880" y="45720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B1F27"/>
                </a:solidFill>
                <a:latin typeface="Cambria"/>
                <a:ea typeface="Cambria"/>
                <a:cs typeface="Cambria"/>
                <a:sym typeface="Cambria"/>
              </a:rPr>
              <a:t>Da câmara escura a um problema central da visão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685800" y="1417320"/>
            <a:ext cx="6035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F4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Há mais de 2.000 anos já se observava: um pequeno furo em uma parede escura projeta, do lado oposto, uma imagem (invertida) do mundo exterior — a </a:t>
            </a:r>
            <a:r>
              <a:rPr b="1" i="0" lang="en-US" sz="1600" u="none" cap="none" strike="noStrike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câmara escura (camera obscura)</a:t>
            </a:r>
            <a:r>
              <a:rPr b="0" i="0" lang="en-US" sz="160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685800" y="324612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C3F4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Toda câmera — de um smartphone a um satélite — precisa resolver o mesmo problema: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5800" y="3794760"/>
            <a:ext cx="5943600" cy="1188720"/>
          </a:xfrm>
          <a:prstGeom prst="roundRect">
            <a:avLst>
              <a:gd fmla="val 6154" name="adj"/>
            </a:avLst>
          </a:prstGeom>
          <a:solidFill>
            <a:srgbClr val="EDEE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914400" y="3794760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Como transformar um mundo em 3 dimensões (X, Y, Z)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em uma imagem plana, de 2 dimensões (x', y')?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6949440" y="3749040"/>
            <a:ext cx="47548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F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O modelo pinhole (câmera de orifício) é a resposta matemática mais simples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F44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para essa pergunta — e ainda hoje é a base de toda a visão computacional.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D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Processamento de Image</a:t>
            </a:r>
            <a:r>
              <a:rPr lang="en-US" sz="900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ns</a:t>
            </a: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 · CESUPA · Tema 5 — Modelo Pinhole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1800" y="1051550"/>
            <a:ext cx="4530175" cy="28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325880" y="45720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B1F27"/>
                </a:solidFill>
                <a:latin typeface="Cambria"/>
                <a:ea typeface="Cambria"/>
                <a:cs typeface="Cambria"/>
                <a:sym typeface="Cambria"/>
              </a:rPr>
              <a:t>A geometria por trás: triângulos semelhantes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a_conceito.png" id="48" name="Google Shape;48;p3"/>
          <p:cNvPicPr preferRelativeResize="0"/>
          <p:nvPr/>
        </p:nvPicPr>
        <p:blipFill rotWithShape="1">
          <a:blip r:embed="rId3">
            <a:alphaModFix/>
          </a:blip>
          <a:srcRect b="0" l="13248" r="12700" t="0"/>
          <a:stretch/>
        </p:blipFill>
        <p:spPr>
          <a:xfrm>
            <a:off x="640075" y="1453925"/>
            <a:ext cx="5325426" cy="33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6858000" y="1417320"/>
            <a:ext cx="4846320" cy="1737360"/>
          </a:xfrm>
          <a:prstGeom prst="roundRect">
            <a:avLst>
              <a:gd fmla="val 4211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 txBox="1"/>
          <p:nvPr/>
        </p:nvSpPr>
        <p:spPr>
          <a:xfrm>
            <a:off x="6858000" y="1417320"/>
            <a:ext cx="48463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D04"/>
              </a:buClr>
              <a:buSzPts val="2600"/>
              <a:buFont typeface="Courier New"/>
              <a:buNone/>
            </a:pPr>
            <a:r>
              <a:rPr b="1" i="0" lang="en-US" sz="2600" u="none" cap="none" strike="noStrike">
                <a:solidFill>
                  <a:srgbClr val="E85D04"/>
                </a:solidFill>
                <a:latin typeface="Courier New"/>
                <a:ea typeface="Courier New"/>
                <a:cs typeface="Courier New"/>
                <a:sym typeface="Courier New"/>
              </a:rPr>
              <a:t>x' = f · (X / Z)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D04"/>
              </a:buClr>
              <a:buSzPts val="2600"/>
              <a:buFont typeface="Courier New"/>
              <a:buNone/>
            </a:pPr>
            <a:r>
              <a:rPr b="1" i="0" lang="en-US" sz="2600" u="none" cap="none" strike="noStrike">
                <a:solidFill>
                  <a:srgbClr val="E85D04"/>
                </a:solidFill>
                <a:latin typeface="Courier New"/>
                <a:ea typeface="Courier New"/>
                <a:cs typeface="Courier New"/>
                <a:sym typeface="Courier New"/>
              </a:rPr>
              <a:t>y' = f · (Y / Z)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6858000" y="3337560"/>
            <a:ext cx="4846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D04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-US" sz="180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  = distância focal (furo até o plano da imagem)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3A86FF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3A86FF"/>
                </a:solidFill>
                <a:latin typeface="Calibri"/>
                <a:ea typeface="Calibri"/>
                <a:cs typeface="Calibri"/>
                <a:sym typeface="Calibri"/>
              </a:rPr>
              <a:t>X, Y, Z</a:t>
            </a:r>
            <a:r>
              <a:rPr b="0" i="0" lang="en-US" sz="180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  = posição do ponto no mundo real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B1F27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x', y'</a:t>
            </a:r>
            <a:r>
              <a:rPr b="0" i="0" lang="en-US" sz="180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  = onde esse ponto cai na imagem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685800" y="525780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F44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Ideia-chave: quanto maior a profundidade Z, menor o ponto projetado — é a perspectiva. É a mesma matemática usada por qualquer sistema que precisa "entender" onde um objeto está no espaço a partir de uma imagem.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D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Processamento de </a:t>
            </a:r>
            <a:r>
              <a:rPr lang="en-US" sz="900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Imagens</a:t>
            </a: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 · CESUPA · Tema 5 — Modelo Pinhole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1325880" y="45720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B1F27"/>
                </a:solidFill>
                <a:latin typeface="Cambria"/>
                <a:ea typeface="Cambria"/>
                <a:cs typeface="Cambria"/>
                <a:sym typeface="Cambria"/>
              </a:rPr>
              <a:t>Por que esse modelo ainda importa hoje?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85800" y="1554473"/>
            <a:ext cx="3520500" cy="4204500"/>
          </a:xfrm>
          <a:prstGeom prst="roundRect">
            <a:avLst>
              <a:gd fmla="val 3030" name="adj"/>
            </a:avLst>
          </a:prstGeom>
          <a:solidFill>
            <a:srgbClr val="EDEE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96012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1565938" y="1737350"/>
            <a:ext cx="276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Câmeras reais usam LENTES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960120" y="2285998"/>
            <a:ext cx="3017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F4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para captar mais luz e manter a imagem nítida — mas a geometria de formação da imagem continua sendo, no fundo, a do pinhole.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480550" y="1554473"/>
            <a:ext cx="3520500" cy="4204500"/>
          </a:xfrm>
          <a:prstGeom prst="roundRect">
            <a:avLst>
              <a:gd fmla="val 3030" name="adj"/>
            </a:avLst>
          </a:prstGeom>
          <a:solidFill>
            <a:srgbClr val="EDEE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754880" y="1828800"/>
            <a:ext cx="457200" cy="457200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 txBox="1"/>
          <p:nvPr/>
        </p:nvSpPr>
        <p:spPr>
          <a:xfrm>
            <a:off x="475488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5372155" y="1714510"/>
            <a:ext cx="3017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É a base </a:t>
            </a:r>
            <a:r>
              <a:rPr b="1" lang="en-US" sz="1550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da</a:t>
            </a: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 CALIBRAÇÃO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794880" y="2286010"/>
            <a:ext cx="3017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F4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todo software (ex.: OpenCV) que corrige distorção de lente ou mede distâncias parte do modelo pinhole como referência ideal.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275325" y="1554473"/>
            <a:ext cx="3520500" cy="4204500"/>
          </a:xfrm>
          <a:prstGeom prst="roundRect">
            <a:avLst>
              <a:gd fmla="val 3030" name="adj"/>
            </a:avLst>
          </a:prstGeom>
          <a:solidFill>
            <a:srgbClr val="EDEE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549640" y="1828800"/>
            <a:ext cx="457200" cy="457200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 txBox="1"/>
          <p:nvPr/>
        </p:nvSpPr>
        <p:spPr>
          <a:xfrm>
            <a:off x="854964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9098149" y="1737350"/>
            <a:ext cx="269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Conecta 2D e 3D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8504065" y="2286010"/>
            <a:ext cx="3017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C3F44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é a ponte matemática entre "o que a câmera vê" (pixels) e "onde as coisas estão de verdade" (coordenadas do mundo).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D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Processamento de </a:t>
            </a:r>
            <a:r>
              <a:rPr lang="en-US" sz="900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Imagens</a:t>
            </a: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 · CESUPA · Tema 5 — Modelo Pinhole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5" y="3588999"/>
            <a:ext cx="3017400" cy="2011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9" name="Google Shape;7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105" y="3689628"/>
            <a:ext cx="3017400" cy="1810440"/>
          </a:xfrm>
          <a:prstGeom prst="rect">
            <a:avLst/>
          </a:prstGeom>
          <a:solidFill>
            <a:srgbClr val="EDEEF0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1325880" y="457200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F27"/>
                </a:solidFill>
                <a:latin typeface="Cambria"/>
                <a:ea typeface="Cambria"/>
                <a:cs typeface="Cambria"/>
                <a:sym typeface="Cambria"/>
              </a:rPr>
              <a:t>Aplicações reais (1): calibração de câmeras e realidade aumentada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31520" y="1655064"/>
            <a:ext cx="201168" cy="201168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1097280" y="16002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Calibração de câmeras — </a:t>
            </a:r>
            <a:r>
              <a:rPr b="0" i="0" lang="en-US" sz="15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bibliotecas como o OpenCV usam o modelo pinhole (mais parâmetros de distorção) para calcular a matriz da câmera e corrigir imagens tortas em fotografia, drones e inspeção industrial.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31520" y="2706624"/>
            <a:ext cx="201168" cy="201168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1097280" y="265176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Realidade aumentada — </a:t>
            </a:r>
            <a:r>
              <a:rPr b="0" i="0" lang="en-US" sz="15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apps como filtros do Instagram, ARKit (Apple) e ARCore (Google) usam essa matemática para "ancorar" um objeto virtual exatamente no lugar certo da cena real, do ponto de vista da câmera do celular.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31520" y="3758184"/>
            <a:ext cx="201168" cy="201168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1097280" y="370332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Fotografia computacional — </a:t>
            </a:r>
            <a:r>
              <a:rPr b="0" i="0" lang="en-US" sz="15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recursos de "modo retrato" e desfoque de fundo em smartphones dependem de estimar a geometria pinhole da cena para separar profundidades.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D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Processamento de </a:t>
            </a:r>
            <a:r>
              <a:rPr lang="en-US" sz="900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Imagens</a:t>
            </a: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 · CESUPA · Tema 5 — Modelo Pinhole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1325880" y="457200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F27"/>
                </a:solidFill>
                <a:latin typeface="Cambria"/>
                <a:ea typeface="Cambria"/>
                <a:cs typeface="Cambria"/>
                <a:sym typeface="Cambria"/>
              </a:rPr>
              <a:t>Aplicações reais (2): robótica, drones e veículos autônomos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31520" y="1655064"/>
            <a:ext cx="201168" cy="201168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 txBox="1"/>
          <p:nvPr/>
        </p:nvSpPr>
        <p:spPr>
          <a:xfrm>
            <a:off x="1097280" y="16002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SLAM (localização e mapeamento simultâneos) — </a:t>
            </a:r>
            <a:r>
              <a:rPr b="0" i="0" lang="en-US" sz="15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robôs móveis e drones usam o modelo pinhole para converter o que a câmera vê em posições reais e construir um mapa do ambiente enquanto se movem.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31520" y="2706624"/>
            <a:ext cx="201168" cy="201168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1097280" y="265176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Visão estéreo — </a:t>
            </a:r>
            <a:r>
              <a:rPr b="0" i="0" lang="en-US" sz="15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carros autônomos e robôs industriais usam duas câmeras (pinhole) para calcular profundidade por triangulação, essencial para desviar de obstáculos.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31520" y="3758184"/>
            <a:ext cx="201168" cy="201168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1097280" y="370332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Pouso e navegação de drones — </a:t>
            </a:r>
            <a:r>
              <a:rPr b="0" i="0" lang="en-US" sz="15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drones agrícolas e de inspeção usam a projeção pinhole para estimar altura e distância de estruturas e plantações a partir de imagens aéreas.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D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Processamento de </a:t>
            </a:r>
            <a:r>
              <a:rPr lang="en-US" sz="900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Imagens</a:t>
            </a: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 · CESUPA · Tema 5 — Modelo Pinhole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1325880" y="457200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B1F27"/>
                </a:solidFill>
                <a:latin typeface="Cambria"/>
                <a:ea typeface="Cambria"/>
                <a:cs typeface="Cambria"/>
                <a:sym typeface="Cambria"/>
              </a:rPr>
              <a:t>Aplicações reais (3): reconstrução 3D e fotogrametria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31520" y="1655064"/>
            <a:ext cx="201168" cy="201168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 txBox="1"/>
          <p:nvPr/>
        </p:nvSpPr>
        <p:spPr>
          <a:xfrm>
            <a:off x="1097280" y="16002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Escaneamento 3D de ambientes — </a:t>
            </a:r>
            <a:r>
              <a:rPr b="0" i="0" lang="en-US" sz="15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serviços como o Matterport reconstroem plantas de imóveis em 3D combinando várias fotos, cada uma modelada como uma projeção pinhole.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31520" y="2706624"/>
            <a:ext cx="201168" cy="201168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1097280" y="265176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Preservação de patrimônio e ciência — </a:t>
            </a:r>
            <a:r>
              <a:rPr b="0" i="0" lang="en-US" sz="15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fotogrametria a partir de centenas de fotos (ruínas, fósseis, obras de arte) gera modelos 3D usados em museus, arqueologia e pesquisa.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31520" y="3758184"/>
            <a:ext cx="201168" cy="201168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1097280" y="370332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Jogos e efeitos visuais — </a:t>
            </a:r>
            <a:r>
              <a:rPr b="0" i="0" lang="en-US" sz="1550" u="none" cap="none" strike="noStrike">
                <a:solidFill>
                  <a:srgbClr val="3C3F44"/>
                </a:solidFill>
                <a:latin typeface="Calibri"/>
                <a:ea typeface="Calibri"/>
                <a:cs typeface="Calibri"/>
                <a:sym typeface="Calibri"/>
              </a:rPr>
              <a:t>motores gráficos (Unity, Unreal) simulam uma câmera virtual pinhole para renderizar cenas 3D exatamente como uma câmera real projetaria.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D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Processamento de </a:t>
            </a:r>
            <a:r>
              <a:rPr lang="en-US" sz="900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Imagens</a:t>
            </a: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 · CESUPA · Tema 5 — Modelo Pinhole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85D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1325880" y="45720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B1F27"/>
                </a:solidFill>
                <a:latin typeface="Cambria"/>
                <a:ea typeface="Cambria"/>
                <a:cs typeface="Cambria"/>
                <a:sym typeface="Cambria"/>
              </a:rPr>
              <a:t>Demonstração: projetando um cubo 3D em 2D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jecao_pinhole.png"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7498080" cy="341071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/>
          <p:nvPr/>
        </p:nvSpPr>
        <p:spPr>
          <a:xfrm>
            <a:off x="8229600" y="1280160"/>
            <a:ext cx="3520440" cy="3410712"/>
          </a:xfrm>
          <a:prstGeom prst="roundRect">
            <a:avLst>
              <a:gd fmla="val 2145" name="adj"/>
            </a:avLst>
          </a:prstGeom>
          <a:solidFill>
            <a:srgbClr val="1B1F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8458200" y="150876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F08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F08C"/>
                </a:solidFill>
                <a:latin typeface="Courier New"/>
                <a:ea typeface="Courier New"/>
                <a:cs typeface="Courier New"/>
                <a:sym typeface="Courier New"/>
              </a:rPr>
              <a:t>def projeta(p, f):</a:t>
            </a:r>
            <a:br>
              <a:rPr b="0" i="0" lang="en-US" sz="1300" u="none" cap="none" strike="noStrike">
                <a:solidFill>
                  <a:srgbClr val="9AF08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F08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F08C"/>
                </a:solidFill>
                <a:latin typeface="Courier New"/>
                <a:ea typeface="Courier New"/>
                <a:cs typeface="Courier New"/>
                <a:sym typeface="Courier New"/>
              </a:rPr>
              <a:t>    X, Y, Z = p</a:t>
            </a:r>
            <a:br>
              <a:rPr b="0" i="0" lang="en-US" sz="1300" u="none" cap="none" strike="noStrike">
                <a:solidFill>
                  <a:srgbClr val="9AF08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F08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F08C"/>
                </a:solidFill>
                <a:latin typeface="Courier New"/>
                <a:ea typeface="Courier New"/>
                <a:cs typeface="Courier New"/>
                <a:sym typeface="Courier New"/>
              </a:rPr>
              <a:t>    x = f * (X / Z)</a:t>
            </a:r>
            <a:br>
              <a:rPr b="0" i="0" lang="en-US" sz="1300" u="none" cap="none" strike="noStrike">
                <a:solidFill>
                  <a:srgbClr val="9AF08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F08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F08C"/>
                </a:solidFill>
                <a:latin typeface="Courier New"/>
                <a:ea typeface="Courier New"/>
                <a:cs typeface="Courier New"/>
                <a:sym typeface="Courier New"/>
              </a:rPr>
              <a:t>    y = f * (Y / Z)</a:t>
            </a:r>
            <a:br>
              <a:rPr b="0" i="0" lang="en-US" sz="1300" u="none" cap="none" strike="noStrike">
                <a:solidFill>
                  <a:srgbClr val="9AF08C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F08C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F08C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x, 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8458200" y="3246120"/>
            <a:ext cx="3108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D3D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FD3D9"/>
                </a:solidFill>
                <a:latin typeface="Calibri"/>
                <a:ea typeface="Calibri"/>
                <a:cs typeface="Calibri"/>
                <a:sym typeface="Calibri"/>
              </a:rPr>
              <a:t>Python + Matplotlib: a face do cubo mais distante (Z=4) é a mesma proporção X/Y da face mais próxima (Z=2), mas aparece menor na imagem — a perspectiva surgindo da própria equação.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548640" y="48920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7"/>
              </a:buClr>
              <a:buSzPts val="1500"/>
              <a:buFont typeface="Calibri"/>
              <a:buNone/>
            </a:pPr>
            <a:r>
              <a:rPr b="1" i="1" lang="en-US" sz="1500" u="none" cap="none" strike="noStrike">
                <a:solidFill>
                  <a:srgbClr val="1B1F27"/>
                </a:solidFill>
                <a:latin typeface="Calibri"/>
                <a:ea typeface="Calibri"/>
                <a:cs typeface="Calibri"/>
                <a:sym typeface="Calibri"/>
              </a:rPr>
              <a:t>Conclusão: uma equação simples — quatro linhas de código — sustenta calibração de câmeras, realidade aumentada, robôs autônomos e reconstrução 3D.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D9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Processamento de </a:t>
            </a:r>
            <a:r>
              <a:rPr lang="en-US" sz="900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Imagens</a:t>
            </a:r>
            <a:r>
              <a:rPr b="0" i="0" lang="en-US" sz="900" u="none" cap="none" strike="noStrike">
                <a:solidFill>
                  <a:srgbClr val="8A8D91"/>
                </a:solidFill>
                <a:latin typeface="Calibri"/>
                <a:ea typeface="Calibri"/>
                <a:cs typeface="Calibri"/>
                <a:sym typeface="Calibri"/>
              </a:rPr>
              <a:t> · CESUPA · Tema 5 — Modelo Pinhole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2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Fontes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685800" y="1463040"/>
            <a:ext cx="107899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D3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FD3D9"/>
                </a:solidFill>
                <a:latin typeface="Calibri"/>
                <a:ea typeface="Calibri"/>
                <a:cs typeface="Calibri"/>
                <a:sym typeface="Calibri"/>
              </a:rPr>
              <a:t>1. Hartley, R.; Zisserman, A. Multiple View Geometry in Computer Vision. Cambridge University Press.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FD3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FD3D9"/>
                </a:solidFill>
                <a:latin typeface="Calibri"/>
                <a:ea typeface="Calibri"/>
                <a:cs typeface="Calibri"/>
                <a:sym typeface="Calibri"/>
              </a:rPr>
              <a:t>2. Szeliski, R. Computer Vision: Algorithms and Applications. Springer.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FD3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FD3D9"/>
                </a:solidFill>
                <a:latin typeface="Calibri"/>
                <a:ea typeface="Calibri"/>
                <a:cs typeface="Calibri"/>
                <a:sym typeface="Calibri"/>
              </a:rPr>
              <a:t>3. OpenCV Documentation — Camera Calibration and 3D Reconstruction (docs.opencv.org).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FD3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FD3D9"/>
                </a:solidFill>
                <a:latin typeface="Calibri"/>
                <a:ea typeface="Calibri"/>
                <a:cs typeface="Calibri"/>
                <a:sym typeface="Calibri"/>
              </a:rPr>
              <a:t>4. Apple ARKit / Google ARCore — documentação oficial sobre tracking e ancoragem de câmera.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FD3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FD3D9"/>
                </a:solidFill>
                <a:latin typeface="Calibri"/>
                <a:ea typeface="Calibri"/>
                <a:cs typeface="Calibri"/>
                <a:sym typeface="Calibri"/>
              </a:rPr>
              <a:t>5. Matterport — documentação técnica sobre captura e reconstrução 3D de ambientes.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27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b4539671e_0_0"/>
          <p:cNvSpPr txBox="1"/>
          <p:nvPr/>
        </p:nvSpPr>
        <p:spPr>
          <a:xfrm>
            <a:off x="3961954" y="2898750"/>
            <a:ext cx="4268100" cy="10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D04"/>
              </a:buClr>
              <a:buSzPts val="1300"/>
              <a:buFont typeface="Calibri"/>
              <a:buNone/>
            </a:pPr>
            <a:r>
              <a:rPr b="1" i="0" lang="en-US" sz="7200" u="none" cap="none" strike="noStrike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b="1" sz="7200">
              <a:solidFill>
                <a:srgbClr val="E85D0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2026-09-13T21:02:07Z</dcterms:created>
  <dc:creator>PptxGenJS</dc:creator>
</cp:coreProperties>
</file>